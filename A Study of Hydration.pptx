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317" r:id="rId5"/>
    <p:sldId id="263" r:id="rId6"/>
    <p:sldId id="309" r:id="rId7"/>
    <p:sldId id="310" r:id="rId8"/>
    <p:sldId id="311" r:id="rId9"/>
    <p:sldId id="31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5405" autoAdjust="0"/>
  </p:normalViewPr>
  <p:slideViewPr>
    <p:cSldViewPr snapToGrid="0">
      <p:cViewPr varScale="1">
        <p:scale>
          <a:sx n="153" d="100"/>
          <a:sy n="153" d="100"/>
        </p:scale>
        <p:origin x="600" y="100"/>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11/28/2025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11/28/2025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A Study of Hydration</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US" dirty="0"/>
              <a:t>Question:</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041114" y="3825875"/>
            <a:ext cx="8109772" cy="2644775"/>
          </a:xfrm>
        </p:spPr>
        <p:txBody>
          <a:bodyPr/>
          <a:lstStyle/>
          <a:p>
            <a:r>
              <a:rPr lang="en-US" dirty="0"/>
              <a:t>Do I drink more water while in a work environment</a:t>
            </a:r>
          </a:p>
        </p:txBody>
      </p:sp>
    </p:spTree>
    <p:extLst>
      <p:ext uri="{BB962C8B-B14F-4D97-AF65-F5344CB8AC3E}">
        <p14:creationId xmlns:p14="http://schemas.microsoft.com/office/powerpoint/2010/main" val="1096717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sz="3200" dirty="0"/>
              <a:t>Data</a:t>
            </a:r>
            <a:endParaRPr lang="en-US"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r>
              <a:rPr lang="en-US" dirty="0"/>
              <a:t>89 Observations gathered over two weeks</a:t>
            </a:r>
          </a:p>
          <a:p>
            <a:r>
              <a:rPr lang="en-US" dirty="0"/>
              <a:t>The main variable tracked: How much water was drunk</a:t>
            </a:r>
          </a:p>
          <a:p>
            <a:pPr lvl="1"/>
            <a:r>
              <a:rPr lang="en-US" dirty="0"/>
              <a:t>Using a digital measuring cup</a:t>
            </a:r>
          </a:p>
          <a:p>
            <a:r>
              <a:rPr lang="en-US" dirty="0"/>
              <a:t>Second main variable tracked: Worked yes or no</a:t>
            </a:r>
          </a:p>
          <a:p>
            <a:r>
              <a:rPr lang="en-US" dirty="0"/>
              <a:t>An additional variable tracked was time of day</a:t>
            </a:r>
          </a:p>
          <a:p>
            <a:pPr lvl="1"/>
            <a:r>
              <a:rPr lang="en-US" dirty="0"/>
              <a:t>Would any patterns appear</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357E6288-D408-242C-C9D8-809CA2B2A5BF}"/>
              </a:ext>
            </a:extLst>
          </p:cNvPr>
          <p:cNvPicPr>
            <a:picLocks noChangeAspect="1"/>
          </p:cNvPicPr>
          <p:nvPr/>
        </p:nvPicPr>
        <p:blipFill>
          <a:blip r:embed="rId3"/>
          <a:srcRect t="1272"/>
          <a:stretch>
            <a:fillRect/>
          </a:stretch>
        </p:blipFill>
        <p:spPr>
          <a:xfrm>
            <a:off x="8773991" y="169558"/>
            <a:ext cx="2976563" cy="6434106"/>
          </a:xfrm>
          <a:prstGeom prst="rect">
            <a:avLst/>
          </a:prstGeom>
        </p:spPr>
      </p:pic>
      <p:pic>
        <p:nvPicPr>
          <p:cNvPr id="6" name="Picture 5" descr="A plastic measuring cup with a digital screen&#10;&#10;AI-generated content may be incorrect.">
            <a:extLst>
              <a:ext uri="{FF2B5EF4-FFF2-40B4-BE49-F238E27FC236}">
                <a16:creationId xmlns:a16="http://schemas.microsoft.com/office/drawing/2014/main" id="{742B3668-E3AB-D1F3-0484-94EF91C09124}"/>
              </a:ext>
            </a:extLst>
          </p:cNvPr>
          <p:cNvPicPr>
            <a:picLocks noChangeAspect="1"/>
          </p:cNvPicPr>
          <p:nvPr/>
        </p:nvPicPr>
        <p:blipFill>
          <a:blip r:embed="rId4"/>
          <a:stretch>
            <a:fillRect/>
          </a:stretch>
        </p:blipFill>
        <p:spPr>
          <a:xfrm>
            <a:off x="3961833" y="4765339"/>
            <a:ext cx="1809750" cy="1838325"/>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sz="3200" dirty="0"/>
              <a:t>Hypothesis Testing</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4576953" cy="3877055"/>
          </a:xfrm>
        </p:spPr>
        <p:txBody>
          <a:bodyPr/>
          <a:lstStyle/>
          <a:p>
            <a:r>
              <a:rPr lang="en-US" dirty="0"/>
              <a:t>Claim: The mean water drunk per hour at work will be more than the mean of the water drunk per hour away from work.</a:t>
            </a:r>
          </a:p>
          <a:p>
            <a:endParaRPr lang="en-US" dirty="0"/>
          </a:p>
          <a:p>
            <a:pPr marL="342900" indent="-342900">
              <a:buFont typeface="Arial" panose="020B0604020202020204" pitchFamily="34" charset="0"/>
              <a:buChar char="•"/>
            </a:pPr>
            <a:r>
              <a:rPr lang="en-US" dirty="0"/>
              <a:t>Variables:</a:t>
            </a:r>
          </a:p>
          <a:p>
            <a:pPr marL="571500" lvl="1" indent="-342900">
              <a:buFont typeface="Arial" panose="020B0604020202020204" pitchFamily="34" charset="0"/>
              <a:buChar char="•"/>
            </a:pPr>
            <a:r>
              <a:rPr lang="en-US" dirty="0"/>
              <a:t>Dependent: Water drunk</a:t>
            </a:r>
          </a:p>
          <a:p>
            <a:pPr marL="571500" lvl="1" indent="-342900">
              <a:buFont typeface="Arial" panose="020B0604020202020204" pitchFamily="34" charset="0"/>
              <a:buChar char="•"/>
            </a:pPr>
            <a:r>
              <a:rPr lang="en-US" dirty="0"/>
              <a:t>Independent: Worked -&gt; yes or no</a:t>
            </a:r>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576953" cy="3877055"/>
          </a:xfrm>
        </p:spPr>
        <p:txBody>
          <a:bodyPr>
            <a:normAutofit/>
          </a:bodyPr>
          <a:lstStyle/>
          <a:p>
            <a:pPr marL="342900" indent="-342900">
              <a:buFont typeface="Arial" panose="020B0604020202020204" pitchFamily="34" charset="0"/>
              <a:buChar char="•"/>
            </a:pPr>
            <a:r>
              <a:rPr lang="en-US" dirty="0"/>
              <a:t>Null Hypothesis</a:t>
            </a:r>
          </a:p>
          <a:p>
            <a:pPr marL="571500" lvl="1" indent="-342900">
              <a:buFont typeface="Arial" panose="020B0604020202020204" pitchFamily="34" charset="0"/>
              <a:buChar char="•"/>
            </a:pPr>
            <a:r>
              <a:rPr lang="en-US" dirty="0"/>
              <a:t>H</a:t>
            </a:r>
            <a:r>
              <a:rPr lang="en-US" baseline="-25000" dirty="0"/>
              <a:t>0</a:t>
            </a:r>
            <a:r>
              <a:rPr lang="en-US" dirty="0"/>
              <a:t> : µ</a:t>
            </a:r>
            <a:r>
              <a:rPr lang="en-US" baseline="-25000" dirty="0"/>
              <a:t>yes</a:t>
            </a:r>
            <a:r>
              <a:rPr lang="en-US" dirty="0"/>
              <a:t> = µ</a:t>
            </a:r>
            <a:r>
              <a:rPr lang="en-US" baseline="-25000" dirty="0"/>
              <a:t>no</a:t>
            </a:r>
          </a:p>
          <a:p>
            <a:pPr marL="342900" indent="-342900">
              <a:buFont typeface="Arial" panose="020B0604020202020204" pitchFamily="34" charset="0"/>
              <a:buChar char="•"/>
            </a:pPr>
            <a:r>
              <a:rPr lang="en-US" dirty="0"/>
              <a:t>Alternative Hypothesis</a:t>
            </a:r>
          </a:p>
          <a:p>
            <a:pPr marL="571500" lvl="1" indent="-342900">
              <a:buFont typeface="Arial" panose="020B0604020202020204" pitchFamily="34" charset="0"/>
              <a:buChar char="•"/>
            </a:pPr>
            <a:r>
              <a:rPr lang="en-US" dirty="0"/>
              <a:t>H</a:t>
            </a:r>
            <a:r>
              <a:rPr lang="en-US" baseline="-25000" dirty="0"/>
              <a:t>0</a:t>
            </a:r>
            <a:r>
              <a:rPr lang="en-US" dirty="0"/>
              <a:t> : µ</a:t>
            </a:r>
            <a:r>
              <a:rPr lang="en-US" baseline="-25000" dirty="0"/>
              <a:t>yes</a:t>
            </a:r>
            <a:r>
              <a:rPr lang="en-US" dirty="0"/>
              <a:t> &gt; µ</a:t>
            </a:r>
            <a:r>
              <a:rPr lang="en-US" baseline="-25000" dirty="0"/>
              <a:t>no</a:t>
            </a: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 test this will be using a t-test</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sz="3200" dirty="0"/>
              <a:t>The results</a:t>
            </a:r>
            <a:endParaRPr lang="en-US"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399" y="2039112"/>
            <a:ext cx="3364992" cy="3904488"/>
          </a:xfrm>
        </p:spPr>
        <p:txBody>
          <a:bodyPr/>
          <a:lstStyle/>
          <a:p>
            <a:r>
              <a:rPr lang="en-US" dirty="0"/>
              <a:t>Test Statistic</a:t>
            </a:r>
          </a:p>
          <a:p>
            <a:pPr lvl="1"/>
            <a:r>
              <a:rPr lang="en-US" dirty="0"/>
              <a:t>T = -.08698</a:t>
            </a:r>
          </a:p>
          <a:p>
            <a:pPr lvl="1"/>
            <a:r>
              <a:rPr lang="en-US" dirty="0"/>
              <a:t>P-value = 0.1628</a:t>
            </a:r>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4743451" y="2039112"/>
            <a:ext cx="6537960" cy="3904488"/>
          </a:xfrm>
        </p:spPr>
        <p:txBody>
          <a:bodyPr/>
          <a:lstStyle/>
          <a:p>
            <a:r>
              <a:rPr lang="en-US" dirty="0"/>
              <a:t>Using a significance level of .05 we are unable to reject the null hypothesis.</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6" name="Picture 5" descr="A screenshot of a computer code&#10;&#10;AI-generated content may be incorrect.">
            <a:extLst>
              <a:ext uri="{FF2B5EF4-FFF2-40B4-BE49-F238E27FC236}">
                <a16:creationId xmlns:a16="http://schemas.microsoft.com/office/drawing/2014/main" id="{44F52586-958A-C0D4-2599-201897BE10B5}"/>
              </a:ext>
            </a:extLst>
          </p:cNvPr>
          <p:cNvPicPr>
            <a:picLocks noChangeAspect="1"/>
          </p:cNvPicPr>
          <p:nvPr/>
        </p:nvPicPr>
        <p:blipFill>
          <a:blip r:embed="rId3"/>
          <a:stretch>
            <a:fillRect/>
          </a:stretch>
        </p:blipFill>
        <p:spPr>
          <a:xfrm>
            <a:off x="94317" y="4266728"/>
            <a:ext cx="4696480" cy="1790950"/>
          </a:xfrm>
          <a:prstGeom prst="rect">
            <a:avLst/>
          </a:prstGeom>
        </p:spPr>
      </p:pic>
    </p:spTree>
    <p:extLst>
      <p:ext uri="{BB962C8B-B14F-4D97-AF65-F5344CB8AC3E}">
        <p14:creationId xmlns:p14="http://schemas.microsoft.com/office/powerpoint/2010/main" val="374834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p:txBody>
          <a:bodyPr/>
          <a:lstStyle/>
          <a:p>
            <a:r>
              <a:rPr lang="en-US" sz="3200" dirty="0"/>
              <a:t>final takeaways</a:t>
            </a:r>
            <a:endParaRPr lang="en-US" dirty="0"/>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532011" y="2103120"/>
            <a:ext cx="6729984" cy="3840480"/>
          </a:xfrm>
        </p:spPr>
        <p:txBody>
          <a:bodyPr>
            <a:normAutofit/>
          </a:bodyPr>
          <a:lstStyle/>
          <a:p>
            <a:pPr marL="0" indent="0">
              <a:buNone/>
            </a:pPr>
            <a:r>
              <a:rPr lang="en-US" cap="none" dirty="0"/>
              <a:t>Because we were unable to reject the null hypothesis, we do not have enough evidence to support the claim that I drink more water at work than on days away from work. While results were inconclusive it was interesting to see some of my habits displayed in the graphs shown. Most noticeably on workdays I drink a lot of water when I get to work. Whereas on days off I drink most after I eat lunch.</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pic>
        <p:nvPicPr>
          <p:cNvPr id="8" name="Picture 7" descr="A graph with red squares&#10;&#10;AI-generated content may be incorrect.">
            <a:extLst>
              <a:ext uri="{FF2B5EF4-FFF2-40B4-BE49-F238E27FC236}">
                <a16:creationId xmlns:a16="http://schemas.microsoft.com/office/drawing/2014/main" id="{4AD4D07C-D873-B9E6-AD49-BEA10B5E10BD}"/>
              </a:ext>
            </a:extLst>
          </p:cNvPr>
          <p:cNvPicPr>
            <a:picLocks noChangeAspect="1"/>
          </p:cNvPicPr>
          <p:nvPr/>
        </p:nvPicPr>
        <p:blipFill>
          <a:blip r:embed="rId3"/>
          <a:srcRect t="2650" r="1222"/>
          <a:stretch>
            <a:fillRect/>
          </a:stretch>
        </p:blipFill>
        <p:spPr>
          <a:xfrm>
            <a:off x="1881625" y="4029479"/>
            <a:ext cx="4573189" cy="2828521"/>
          </a:xfrm>
          <a:prstGeom prst="rect">
            <a:avLst/>
          </a:prstGeom>
        </p:spPr>
      </p:pic>
      <p:pic>
        <p:nvPicPr>
          <p:cNvPr id="11" name="Picture 10" descr="A graph of a bar chart&#10;&#10;AI-generated content may be incorrect.">
            <a:extLst>
              <a:ext uri="{FF2B5EF4-FFF2-40B4-BE49-F238E27FC236}">
                <a16:creationId xmlns:a16="http://schemas.microsoft.com/office/drawing/2014/main" id="{CC554999-8692-5688-B755-B7F97691D30F}"/>
              </a:ext>
            </a:extLst>
          </p:cNvPr>
          <p:cNvPicPr>
            <a:picLocks noChangeAspect="1"/>
          </p:cNvPicPr>
          <p:nvPr/>
        </p:nvPicPr>
        <p:blipFill>
          <a:blip r:embed="rId4"/>
          <a:srcRect t="4066" r="1000"/>
          <a:stretch>
            <a:fillRect/>
          </a:stretch>
        </p:blipFill>
        <p:spPr>
          <a:xfrm>
            <a:off x="7214197" y="1043246"/>
            <a:ext cx="4470311" cy="2769119"/>
          </a:xfrm>
          <a:prstGeom prst="rect">
            <a:avLst/>
          </a:prstGeom>
        </p:spPr>
      </p:pic>
      <p:pic>
        <p:nvPicPr>
          <p:cNvPr id="13" name="Picture 12" descr="A graph of a bar graph&#10;&#10;AI-generated content may be incorrect.">
            <a:extLst>
              <a:ext uri="{FF2B5EF4-FFF2-40B4-BE49-F238E27FC236}">
                <a16:creationId xmlns:a16="http://schemas.microsoft.com/office/drawing/2014/main" id="{227F4822-E831-8B7C-597C-A19BA641EB1F}"/>
              </a:ext>
            </a:extLst>
          </p:cNvPr>
          <p:cNvPicPr>
            <a:picLocks noChangeAspect="1"/>
          </p:cNvPicPr>
          <p:nvPr/>
        </p:nvPicPr>
        <p:blipFill>
          <a:blip r:embed="rId5"/>
          <a:stretch>
            <a:fillRect/>
          </a:stretch>
        </p:blipFill>
        <p:spPr>
          <a:xfrm>
            <a:off x="7216659" y="3757352"/>
            <a:ext cx="4467849" cy="2638793"/>
          </a:xfrm>
          <a:prstGeom prst="rect">
            <a:avLst/>
          </a:prstGeom>
        </p:spPr>
      </p:pic>
    </p:spTree>
    <p:extLst>
      <p:ext uri="{BB962C8B-B14F-4D97-AF65-F5344CB8AC3E}">
        <p14:creationId xmlns:p14="http://schemas.microsoft.com/office/powerpoint/2010/main" val="4132147533"/>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{A6ADA336-CB43-45C7-81C2-EAF05617444C}TF1ed9553b-00c4-4092-846a-c8f7f2908f3beecd942f_win32-8e33096c3cfc</Template>
  <TotalTime>23</TotalTime>
  <Words>242</Words>
  <Application>Microsoft Office PowerPoint</Application>
  <PresentationFormat>Widescreen</PresentationFormat>
  <Paragraphs>39</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Courier New</vt:lpstr>
      <vt:lpstr>Gill Sans Nova Light</vt:lpstr>
      <vt:lpstr>Sagona Book</vt:lpstr>
      <vt:lpstr>Custom</vt:lpstr>
      <vt:lpstr>A Study of Hydration</vt:lpstr>
      <vt:lpstr>Question:</vt:lpstr>
      <vt:lpstr>Data</vt:lpstr>
      <vt:lpstr>Hypothesis Testing</vt:lpstr>
      <vt:lpstr>The results</vt:lpstr>
      <vt:lpstr>final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Abraham Carter</dc:creator>
  <cp:lastModifiedBy>Abraham Carter</cp:lastModifiedBy>
  <cp:revision>1</cp:revision>
  <dcterms:created xsi:type="dcterms:W3CDTF">2025-11-28T09:23:17Z</dcterms:created>
  <dcterms:modified xsi:type="dcterms:W3CDTF">2025-11-28T09:47:02Z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